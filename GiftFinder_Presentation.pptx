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996" y="13716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3899916" y="3218688"/>
            <a:ext cx="4389120" cy="40233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99916" y="321868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ПОДБОРА ПОДАРКОВ С ИИ-АССИСТЕНТОМ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0" y="4069080"/>
            <a:ext cx="761695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468880" y="4206240"/>
            <a:ext cx="7251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работы: </a:t>
            </a:r>
            <a:pPr algn="ctr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для подбора подарков по запросу при помощи ИИ ассистента</a:t>
            </a:r>
            <a:endParaRPr lang="en-US" sz="13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pPr algn="ctr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группы П30 Береженцев Артем Станиславович</a:t>
            </a:r>
            <a:endParaRPr lang="en-US" sz="13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Организация: </a:t>
            </a:r>
            <a:pPr algn="ctr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Academy  |  2026 г.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495130" y="36576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95130" y="365760"/>
            <a:ext cx="19165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ЗАДАНИЕ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задание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77240" y="1828800"/>
            <a:ext cx="5074920" cy="1691640"/>
          </a:xfrm>
          <a:prstGeom prst="roundRect">
            <a:avLst>
              <a:gd name="adj" fmla="val 4865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9848" y="1956816"/>
            <a:ext cx="448970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проекта: разработать веб-сервис, который по свободному текстовому запросу пользователя подбирает подходящие подарки с помощью ИИ и показывает готовые карточки товаров со ссылкой на покупку.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ориентирован на автоматическое извлечение смысла запроса без жёстких категорий и фильтров.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46520" y="1810512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задачи разработки:</a:t>
            </a:r>
            <a:endParaRPr lang="en-US" sz="1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42316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57416" y="2340864"/>
            <a:ext cx="4654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товаров для семантического поиска.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081528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57416" y="2999232"/>
            <a:ext cx="4654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ИИ: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понимание → поиск по смыслу → курация.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739896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57416" y="3657600"/>
            <a:ext cx="4654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веб-клиент со светлой и тёмной темой.</a:t>
            </a:r>
            <a:endParaRPr lang="en-US" sz="14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398264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57416" y="4315968"/>
            <a:ext cx="4654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авторизация, тарифные лимиты и избранное.</a:t>
            </a:r>
            <a:endParaRPr lang="en-US" sz="14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5056632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57416" y="4974336"/>
            <a:ext cx="4654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автообновление каталога и расширяемость источников.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2 из 20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058400" y="36576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0" y="36576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 работы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77240" y="1965960"/>
            <a:ext cx="2450592" cy="2514600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8600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8346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51560" y="3456432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Актуальность, постановка проблемы, цель и задачи разработки.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502152" y="1965960"/>
            <a:ext cx="2450592" cy="2514600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28600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76472" y="28346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1. Теория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776472" y="3456432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Семантический поиск, векторные эмбеддинги, языковые модели и стек.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227064" y="1965960"/>
            <a:ext cx="2450592" cy="2514600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228600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01384" y="28346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2. О проекте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01384" y="3456432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 продукта, потенциальные клиенты и сценарий использования.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951976" y="1965960"/>
            <a:ext cx="2450592" cy="2514600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296" y="228600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226296" y="283464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3. Проектирование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9226296" y="3456432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Архитектура, ИИ-конвейер, база данных и инженерные решения.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3 из 20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219334" y="365760"/>
            <a:ext cx="119237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19334" y="365760"/>
            <a:ext cx="119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проблема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18105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Существующая проблема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Каталоги интернет-магазинов упорядочены по строгим категориям, а не по смыслу. Когда пользователь ищет что-то неопределённое — «папе, любит рыбалку и баню» — он тратит время на перебор разделов и фильтров.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" y="352044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3648456"/>
            <a:ext cx="44897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решения: пользователь описывает получателя, повод и бюджет обычными словами. ИИ разбирает контекст, ищет по смыслу и предлагает лучшие варианты с объяснением выбора.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46520" y="1810512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ориентиры</a:t>
            </a:r>
            <a:endParaRPr lang="en-US" sz="1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42316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57416" y="2340864"/>
            <a:ext cx="4654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Семантическое ядро: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 от поиска по строгому вхождению ключевых слов.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172968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57416" y="3090672"/>
            <a:ext cx="4654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Объяснимость: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каждой карточке — короткое обоснование, почему товар подходит.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922776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57416" y="3840480"/>
            <a:ext cx="4654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Масштабируемость каталога: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сторонних площадок по единому контракту.</a:t>
            </a:r>
            <a:endParaRPr lang="en-US" sz="14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672584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57416" y="4590288"/>
            <a:ext cx="4654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Полноценный продукт: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аккаунты, тарифы, избранное и адаптивный интерфейс.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4 из 20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9748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1. Теоретическая часть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705856" y="3703320"/>
            <a:ext cx="777240" cy="457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3968496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6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Подходы к поиску, векторные эмбеддинги, языковые модели и обоснование стека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609990" y="365760"/>
            <a:ext cx="2801722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09990" y="365760"/>
            <a:ext cx="28017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1. ТЕОРЕТИЧЕСКАЯ ЧАСТЬ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Семантический поиск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77240" y="1828800"/>
            <a:ext cx="5074920" cy="3200400"/>
          </a:xfrm>
          <a:prstGeom prst="roundRect">
            <a:avLst>
              <a:gd name="adj" fmla="val 2571"/>
            </a:avLst>
          </a:prstGeom>
          <a:solidFill>
            <a:srgbClr val="F5F3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0312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35608" y="20299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ключевым словам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69848" y="2468880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Сравнивает строки буквально. Запрос «подарок папе-рыбаку» не выдаст «набор воблеров» или «термокружку», если этих слов нет в описании товара.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069848" y="3429000"/>
            <a:ext cx="4489704" cy="0"/>
          </a:xfrm>
          <a:prstGeom prst="line">
            <a:avLst/>
          </a:prstGeom>
          <a:noFill/>
          <a:ln w="12700">
            <a:solidFill>
              <a:srgbClr val="E7E3F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363931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35608" y="35661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Семантический (векторный) поиск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69848" y="4005072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превращается в вектор-эмбеддинг в многомерном пространстве. Близкие по смыслу понятия оказываются рядом независимо от использованных слов.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46520" y="1810512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в проекте:</a:t>
            </a:r>
            <a:endParaRPr lang="en-US" sz="1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423160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57416" y="2340864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эмбеддингов: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multilingual-e5-base — мультиязычная, работает без внешних API и лимитов.</a:t>
            </a:r>
            <a:endParaRPr lang="en-US" sz="13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383280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57416" y="3300984"/>
            <a:ext cx="4654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Векторное хранилище: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с расширением pgvector, вектор размерности 768.</a:t>
            </a:r>
            <a:endParaRPr lang="en-US" sz="13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187952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57416" y="4105656"/>
            <a:ext cx="4654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Мера близости: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косинусное расстояние между вектором запроса и вектором описания товара.</a:t>
            </a:r>
            <a:endParaRPr lang="en-US" sz="13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4992624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757416" y="4910328"/>
            <a:ext cx="4654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Предрасчёт: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эмбеддинги товаров считаются при загрузке каталога, а не в момент поиска.</a:t>
            </a:r>
            <a:endParaRPr lang="en-US" sz="1350" dirty="0"/>
          </a:p>
        </p:txBody>
      </p:sp>
      <p:sp>
        <p:nvSpPr>
          <p:cNvPr id="25" name="Shape 16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6 из 20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8609990" y="365760"/>
            <a:ext cx="2801722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09990" y="365760"/>
            <a:ext cx="28017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1. ТЕОРЕТИЧЕСКАЯ ЧАСТЬ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Языковые модели и стек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77240" y="1920240"/>
            <a:ext cx="3392424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21284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9848" y="272491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LLM в поиске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069848" y="3154680"/>
            <a:ext cx="28072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Понимание запроса: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свободной речи в структурированный JSON — повод, получатель, интересы, бюджет.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Курация: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лучших 6–12 кандидатов и генерация обоснования к каждой карточке.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98264" y="1920240"/>
            <a:ext cx="3392424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21284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90872" y="272491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Выбранный стек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690872" y="3154680"/>
            <a:ext cx="28072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(async), SQLAlchemy 2.x, Alembic, Pydantic v2.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БД: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ИИ: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sentence-transformers, DeepSeek через OpenAI-совместимый API.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TypeScript, Tailwind CSS.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19288" y="1920240"/>
            <a:ext cx="3392424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221284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11896" y="272491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 решений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311896" y="3154680"/>
            <a:ext cx="28072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эмбеддинги </a:t>
            </a:r>
            <a:pPr indent="0" marL="0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зависят от внешних API, лимитов и оплаты по токенам.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вызова LLM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разделяют задачи: понять запрос и объяснить выбор — это точнее поиска «в лоб».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7 из 20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9748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2. О проекте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705856" y="3703320"/>
            <a:ext cx="777240" cy="457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3968496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6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 продукта, потенциальные клиенты и основной сценарий использования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414662" y="365760"/>
            <a:ext cx="199705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14662" y="365760"/>
            <a:ext cx="1997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2. О ПРОЕКТЕ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Бизнес-контекст и клиенты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77240" y="1828800"/>
            <a:ext cx="5074920" cy="1600200"/>
          </a:xfrm>
          <a:prstGeom prst="roundRect">
            <a:avLst>
              <a:gd name="adj" fmla="val 5143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9848" y="1956816"/>
            <a:ext cx="448970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разработан как самостоятельный SaaS-сервис: внешнего заказчика у работы нет, поэтому проектирование велось от потребности рынка и потенциальных B2B-клиентов.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36118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Прямые пользователи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люди, выбирающие подарок.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Коммерческая ценность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для торговых площадок: точное попадание в потребность сокращает путь до покупки и повышает конверсию.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46520" y="1810512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Потенциальные клиенты (B2B)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46520" y="2304288"/>
            <a:ext cx="1147572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2304288"/>
            <a:ext cx="1147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Wildberries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03820" y="2304288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03820" y="230428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417052" y="2304288"/>
            <a:ext cx="130302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7052" y="2304288"/>
            <a:ext cx="1303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 Маркет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829800" y="2304288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29800" y="2304288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Мегамаркет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46520" y="2761488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Маркетплейсы и крупный онлайн-ритейл, а также нишевые подарочные магазины.</a:t>
            </a:r>
            <a:endParaRPr lang="en-US" sz="12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447288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57416" y="3364992"/>
            <a:ext cx="4654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подбора: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встраиваемый блок «умного поиска подарка» в каталог площадки.</a:t>
            </a:r>
            <a:endParaRPr lang="en-US" sz="13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178808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57416" y="4096512"/>
            <a:ext cx="4654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подбора: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каталога партнёра через единый контракт FeedSource.</a:t>
            </a:r>
            <a:endParaRPr lang="en-US" sz="13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910328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57416" y="4828032"/>
            <a:ext cx="4654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под брендом площадки с её товарными позициями.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9 из 20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414662" y="365760"/>
            <a:ext cx="199705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14662" y="365760"/>
            <a:ext cx="19970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2. О ПРОЕКТЕ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и возможности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18105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Пользовательский путь (User Flow)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F5F3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51560" y="245059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Свободный запрос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77063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«Подарок коллеге-программисту, любит кофе, до 2500 рублей».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52044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F5F3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51560" y="36393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Подбор и обработка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395935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понимает смысл, учитывает бюджет, ищет по векторам в каталоге.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470916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F5F3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51560" y="48280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Индивидуальная выдача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514807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с ценой, скидкой, ссылкой и объяснением выбора.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46520" y="1810512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функционал</a:t>
            </a:r>
            <a:endParaRPr lang="en-US" sz="17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423160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57416" y="2340864"/>
            <a:ext cx="4654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ИИ-поиск: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понимание непрямых и абстрактных запросов.</a:t>
            </a:r>
            <a:endParaRPr lang="en-US" sz="13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11810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57416" y="3035808"/>
            <a:ext cx="4654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с подтверждением e-mail, JWT в httpOnly-куке.</a:t>
            </a:r>
            <a:endParaRPr lang="en-US" sz="13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813048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57416" y="3730752"/>
            <a:ext cx="4654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Тарификация: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5 подборов в день, Premium — без ограничений.</a:t>
            </a:r>
            <a:endParaRPr lang="en-US" sz="13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507992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57416" y="4425696"/>
            <a:ext cx="4654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Избранное: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снимка товара с ценой и ссылкой.</a:t>
            </a:r>
            <a:endParaRPr lang="en-US" sz="13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520293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57416" y="5120640"/>
            <a:ext cx="4654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адаптивная вёрстка, светлая и тёмная темы.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10 из 20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9748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3. Проектирование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705856" y="3703320"/>
            <a:ext cx="777240" cy="45720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3968496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6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системы, ИИ-конвейер поиска, база данных и инженерные решения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012326" y="365760"/>
            <a:ext cx="239938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12326" y="365760"/>
            <a:ext cx="2399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3. ПРОЕКТИРОВАНИЕ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архитектура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77240" y="1920240"/>
            <a:ext cx="339242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21284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9848" y="274320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(React)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069848" y="3154680"/>
            <a:ext cx="2807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SPA-интерфейс: страницы подбора, тарифов и избранного, переключение тем, состояние авторизации.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98264" y="1920240"/>
            <a:ext cx="339242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21284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90872" y="274320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 (FastAPI)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690872" y="3154680"/>
            <a:ext cx="2807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Асинхронные роуты, бизнес-логика авторизации и тарифов, оркестрация ИИ-конвейера, планировщик задач.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19288" y="1920240"/>
            <a:ext cx="339242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221284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11896" y="274320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СУБД и ИИ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311896" y="3154680"/>
            <a:ext cx="2807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pgvector: реляционные данные и поиск по косинусной близости эмбеддингов.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77240" y="4434840"/>
            <a:ext cx="10634472" cy="960120"/>
          </a:xfrm>
          <a:prstGeom prst="roundRect">
            <a:avLst>
              <a:gd name="adj" fmla="val 8571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069848" y="4562856"/>
            <a:ext cx="100492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сервисы контейнеризованы через Docker Compose, миграции схемы — Alembic. Скрипт start.sh поднимает окружение одной командой: ждёт готовности БД по health-check и применяет миграции.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12 из 20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012326" y="365760"/>
            <a:ext cx="239938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12326" y="365760"/>
            <a:ext cx="2399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3. ПРОЕКТИРОВАНИЕ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поиска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77240" y="2240280"/>
            <a:ext cx="245059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2011680"/>
            <a:ext cx="457200" cy="45720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515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клиента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51560" y="3017520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описывает получателя, повод и бюджет обычными словами.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502152" y="2240280"/>
            <a:ext cx="245059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76472" y="2011680"/>
            <a:ext cx="457200" cy="45720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7764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776472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Понимание (LLM)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776472" y="3017520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 смысла запроса: интересы, повод, ценовые рамки, категории.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27064" y="2240280"/>
            <a:ext cx="245059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01384" y="2011680"/>
            <a:ext cx="457200" cy="45720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0138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01384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Векторный отбор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501384" y="3017520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pgvector по косинусной близости и дедупликация кандидатов.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951976" y="2240280"/>
            <a:ext cx="245059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26296" y="2011680"/>
            <a:ext cx="457200" cy="45720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22629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226296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Курация (LLM)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226296" y="3017520"/>
            <a:ext cx="1901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6–12 товаров и генерация обоснования к каждой карточке.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77240" y="4434840"/>
            <a:ext cx="10634472" cy="1005840"/>
          </a:xfrm>
          <a:prstGeom prst="roundRect">
            <a:avLst>
              <a:gd name="adj" fmla="val 8182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69848" y="4562856"/>
            <a:ext cx="10049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Архитектурный выигрыш: тяжёлые эмбеддинги товаров считаются заранее, при загрузке каталога. Поиск по базе выполняется мгновенно, а модель вызывается только дважды — на понимании запроса и финальном отборе.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13 из 20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012326" y="365760"/>
            <a:ext cx="239938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12326" y="365760"/>
            <a:ext cx="2399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3. ПРОЕКТИРОВАНИЕ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Наполнение каталога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18105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источников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регулярного наполнения базы спроектирована абстракция FeedSource: любой источник приводит свои данные к единому контракту. Подключение новой площадки не затрагивает поисковый модуль.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" y="3566160"/>
            <a:ext cx="5074920" cy="13716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3694176"/>
            <a:ext cx="44897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каталога (ingest) идемпотентна: пересчитывает эмбеддинги описаний моделью multilingual-e5-base, обновляет изменившиеся позиции и удаляет пропавшие из выгрузки.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46520" y="1828800"/>
            <a:ext cx="4965192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66560" y="205740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Реализованные источники: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56032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77456" y="2478024"/>
            <a:ext cx="4014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YML/XML-фиды: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 формат товарного экспорта (Яндекс.Маркет).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21868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77456" y="3136392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HTML-парсер: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каркас сбора карточек с сайтов-доноров.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749040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77456" y="3666744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API: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расширения под товарные базы маркетплейсов.</a:t>
            </a:r>
            <a:endParaRPr lang="en-US" sz="13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279392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77456" y="4197096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Демо-каталог: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товара в 13 категориях для автономной работы.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4809744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77456" y="4727448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еженедельная синхронизация каталога по расписанию.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14 из 20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012326" y="365760"/>
            <a:ext cx="239938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12326" y="365760"/>
            <a:ext cx="2399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3. ПРОЕКТИРОВАНИЕ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и ранжирование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77240" y="1828800"/>
            <a:ext cx="507492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20574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данных (6 таблиц):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15568" y="2706624"/>
            <a:ext cx="109728" cy="109728"/>
          </a:xfrm>
          <a:prstGeom prst="ellipse">
            <a:avLst/>
          </a:prstGeom>
          <a:solidFill>
            <a:srgbClr val="A78BF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44168" y="2606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/ categories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 векторы описаний (768)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115568" y="3218688"/>
            <a:ext cx="109728" cy="109728"/>
          </a:xfrm>
          <a:prstGeom prst="ellipse">
            <a:avLst/>
          </a:prstGeom>
          <a:solidFill>
            <a:srgbClr val="A78BF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44168" y="311810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аккаунты, тариф, подтверждение e-mail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115568" y="3730752"/>
            <a:ext cx="109728" cy="109728"/>
          </a:xfrm>
          <a:prstGeom prst="ellipse">
            <a:avLst/>
          </a:prstGeom>
          <a:solidFill>
            <a:srgbClr val="A78BF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44168" y="36301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pending_registrations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до ввода кода из письма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115568" y="4242816"/>
            <a:ext cx="109728" cy="109728"/>
          </a:xfrm>
          <a:prstGeom prst="ellipse">
            <a:avLst/>
          </a:prstGeom>
          <a:solidFill>
            <a:srgbClr val="A78BF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44168" y="41422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search_usage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 подборов за сутки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115568" y="4754880"/>
            <a:ext cx="109728" cy="109728"/>
          </a:xfrm>
          <a:prstGeom prst="ellipse">
            <a:avLst/>
          </a:prstGeom>
          <a:solidFill>
            <a:srgbClr val="A78BF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44168" y="465429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—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избранное со снимком товара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46520" y="1810512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Ранжирование выдачи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446520" y="2286000"/>
            <a:ext cx="4965192" cy="566928"/>
          </a:xfrm>
          <a:prstGeom prst="roundRect">
            <a:avLst>
              <a:gd name="adj" fmla="val 14516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46520" y="2286000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ранг  =  relevance  +  POP_WEIGHT × popularity</a:t>
            </a:r>
            <a:endParaRPr lang="en-US" sz="13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108960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757416" y="3026664"/>
            <a:ext cx="4654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Популярность: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считается из кликов «Купить» и добавлений товара в избранное.</a:t>
            </a:r>
            <a:endParaRPr lang="en-US" sz="13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712464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57416" y="3630168"/>
            <a:ext cx="4654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Стабильная сортировка: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равном скоре сохраняется исходный порядок релевантности.</a:t>
            </a:r>
            <a:endParaRPr lang="en-US" sz="13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315968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57416" y="4233672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Дедупликация: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названий убирает повторы одного товара из разных источников.</a:t>
            </a:r>
            <a:endParaRPr lang="en-US" sz="13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074920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757416" y="4992624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Скидки: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цена и процент — в карточке видна старая цена, итоговая и бейдж −N%.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15 из 20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012326" y="365760"/>
            <a:ext cx="239938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12326" y="365760"/>
            <a:ext cx="2399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3. ПРОЕКТИРОВАНИЕ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продукта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5193792" cy="1691640"/>
          </a:xfrm>
          <a:prstGeom prst="roundRect">
            <a:avLst>
              <a:gd name="adj" fmla="val 4865"/>
            </a:avLst>
          </a:prstGeom>
          <a:solidFill>
            <a:srgbClr val="F5F3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33172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7048" y="2295144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Безопасный кабинет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069848" y="277063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хешируются bcrypt. Сессия хранится в httpOnly-куке — JavaScript её не читает, что защищает от XSS.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2057400"/>
            <a:ext cx="51937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33172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67728" y="2295144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Гибкая тарификация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510528" y="2770632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5 подборов в сутки с атомарным счётчиком, Premium снимает лимит. Демо-форма оплаты с валидацией карты.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77240" y="4005072"/>
            <a:ext cx="519379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27939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27048" y="4242816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Избранное (вишлист)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069848" y="4718304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сохранении создаётся снимок товара: позиция остаётся в списке с ценой и ссылкой, даже если пропала из каталога.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17920" y="4005072"/>
            <a:ext cx="5193792" cy="1691640"/>
          </a:xfrm>
          <a:prstGeom prst="roundRect">
            <a:avLst>
              <a:gd name="adj" fmla="val 4865"/>
            </a:avLst>
          </a:prstGeom>
          <a:solidFill>
            <a:srgbClr val="F5F3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279392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67728" y="4242816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почты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6510528" y="4718304"/>
            <a:ext cx="4608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подтверждается 6-значным кодом из письма. Запись в БД создаётся только после верного кода.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16 из 20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012326" y="365760"/>
            <a:ext cx="239938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12326" y="365760"/>
            <a:ext cx="23993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3. ПРОЕКТИРОВАНИЕ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Инженерные решения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18105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и безопасность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88136" y="2249424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до записи: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 уходит раньше создания пользователя — сбой SMTP не оставляет «призраков» в базе.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4553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88136" y="3063240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за постоянное время: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кода подтверждения защищена от атак по времени, попытки ограничены.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59352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8136" y="3877056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утечки данных: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отправка кода отвечает одинаково для существующих и несуществующих адресов.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773168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88136" y="4690872"/>
            <a:ext cx="4764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в избранном: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денормализация переживает еженедельную очистку каталога.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6446520" y="1828800"/>
            <a:ext cx="4965192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2103120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196328" y="208483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и DevOps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766560" y="2606040"/>
            <a:ext cx="43251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Локальное окружение поднимается одной командой ./start.sh: скрипт ждёт готовности PostgreSQL по health-check, затем автоматически применяет миграции Alembic и печатает адреса сервисов.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766560" y="3840480"/>
            <a:ext cx="4325112" cy="0"/>
          </a:xfrm>
          <a:prstGeom prst="line">
            <a:avLst/>
          </a:prstGeom>
          <a:noFill/>
          <a:ln w="12700">
            <a:solidFill>
              <a:srgbClr val="E7E3F6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4069080"/>
            <a:ext cx="310896" cy="31089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196328" y="405079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Автотесты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6766560" y="4572000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теста pytest покрывают парсинг фида, реестр источников, конвейер поиска с замоканной LLM и HTTP-контракт API. Набор автономный: не требует базы и не загружает модель.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17 из 20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058400" y="36576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0" y="36576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заключение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18105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работы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88136" y="2295144"/>
            <a:ext cx="4764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асинхронный веб-сервис семантического подбора подарков с объяснением выбора.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8211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88136" y="3099816"/>
            <a:ext cx="4764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Создана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расширяемая архитектура источников каталога с еженедельной синхронизацией.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8678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8136" y="3904488"/>
            <a:ext cx="4764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двухэтапный ИИ-конвейер с векторным отбором и реранкингом по популярности.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79145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88136" y="4709160"/>
            <a:ext cx="4764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Построена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защищённая система аккаунтов с тарифами, избранным и подтверждением почты.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6446520" y="1828800"/>
            <a:ext cx="4965192" cy="3566160"/>
          </a:xfrm>
          <a:prstGeom prst="roundRect">
            <a:avLst>
              <a:gd name="adj" fmla="val 30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2148840"/>
            <a:ext cx="329184" cy="32918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269480" y="2130552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 развития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68122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D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7132320" y="2697480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1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товарных API маркетплейсов для импорта цен и остатков в реальном времени.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681228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D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7132320" y="3355848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1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Кэширующий слой для частых и повторяющихся запросов подбора.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681228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D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7132320" y="4014216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1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Сквозная продуктовая аналитика популярности подарков и поводов.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812280" y="4672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D3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7132320" y="4672584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1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платёжный шлюз вместо демонстрационной формы оплаты.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18 из 20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138867" y="365760"/>
            <a:ext cx="1272845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38867" y="365760"/>
            <a:ext cx="12728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8412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используемых источников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18105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документация: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88136" y="2295144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асинхронный веб-фреймворк. fastapi.tiangolo.com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5409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88136" y="2971800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реляционная СУБД. postgresql.org/docs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30752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8136" y="3648456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расширение векторного поиска. github.com/pgvector/pgvector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407408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88136" y="4325112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асинхронная ORM. docs.sqlalchemy.org</a:t>
            </a:r>
            <a:endParaRPr lang="en-US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084064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88136" y="5001768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миграции схемы базы данных. alembic.sqlalchemy.org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6446520" y="1810512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и ИИ-модели:</a:t>
            </a:r>
            <a:endParaRPr lang="en-US" sz="17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2377440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757416" y="2295144"/>
            <a:ext cx="4654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библиотека эмбеддингов; модель intfloat/multilingual-e5-base. huggingface.co</a:t>
            </a:r>
            <a:endParaRPr lang="en-US" sz="13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3054096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757416" y="2971800"/>
            <a:ext cx="4654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языковая модель через OpenAI-совместимый API. nano-gpt.com</a:t>
            </a:r>
            <a:endParaRPr lang="en-US" sz="13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3730752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757416" y="3648456"/>
            <a:ext cx="4654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и Vite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библиотека и сборщик фронтенда. react.dev, vitejs.dev</a:t>
            </a:r>
            <a:endParaRPr lang="en-US" sz="13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4407408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757416" y="4325112"/>
            <a:ext cx="4654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утилитарный CSS-фреймворк. tailwindcss.com</a:t>
            </a:r>
            <a:endParaRPr lang="en-US" sz="13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6520" y="5084064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757416" y="5001768"/>
            <a:ext cx="4654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оркестрация окружения. docs.docker.com/compose</a:t>
            </a:r>
            <a:endParaRPr lang="en-US" sz="1350" dirty="0"/>
          </a:p>
        </p:txBody>
      </p:sp>
      <p:sp>
        <p:nvSpPr>
          <p:cNvPr id="30" name="Shape 17"/>
          <p:cNvSpPr/>
          <p:nvPr/>
        </p:nvSpPr>
        <p:spPr>
          <a:xfrm>
            <a:off x="777240" y="6272784"/>
            <a:ext cx="10634472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31" name="Text 18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  <p:sp>
        <p:nvSpPr>
          <p:cNvPr id="32" name="Text 19"/>
          <p:cNvSpPr/>
          <p:nvPr/>
        </p:nvSpPr>
        <p:spPr>
          <a:xfrm>
            <a:off x="8668512" y="6336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19 из 20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4048"/>
            <a:ext cx="246888" cy="2468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329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GiftFinder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4453128" y="36576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453128" y="36576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777240" y="914400"/>
            <a:ext cx="685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33272" y="8412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интерфейса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777240" y="1691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разработан с упором на лаконичность, объяснимость подбора и адаптивность под мобильные устройства.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77240" y="2606040"/>
            <a:ext cx="4937760" cy="1078992"/>
          </a:xfrm>
          <a:prstGeom prst="roundRect">
            <a:avLst>
              <a:gd name="adj" fmla="val 7627"/>
            </a:avLst>
          </a:prstGeom>
          <a:solidFill>
            <a:srgbClr val="F5F3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51560" y="273405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страница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51560" y="30449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Поисковая строка, блок «Как это работает», преимущества, поводы и примеры запросов.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77240" y="3794760"/>
            <a:ext cx="4937760" cy="1078992"/>
          </a:xfrm>
          <a:prstGeom prst="roundRect">
            <a:avLst>
              <a:gd name="adj" fmla="val 7627"/>
            </a:avLst>
          </a:prstGeom>
          <a:solidFill>
            <a:srgbClr val="F5F3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1051560" y="392277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подбора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51560" y="42336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с ценой, скидкой, ссылкой в магазин и обоснованием от ассистента.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77240" y="4983480"/>
            <a:ext cx="4937760" cy="1078992"/>
          </a:xfrm>
          <a:prstGeom prst="roundRect">
            <a:avLst>
              <a:gd name="adj" fmla="val 7627"/>
            </a:avLst>
          </a:prstGeom>
          <a:solidFill>
            <a:srgbClr val="F5F3FF"/>
          </a:solidFill>
          <a:ln w="12700">
            <a:solidFill>
              <a:srgbClr val="E7E3F6"/>
            </a:solidFill>
            <a:prstDash val="solid"/>
          </a:ln>
          <a:effectLst>
            <a:outerShdw sx="100000" sy="100000" kx="0" ky="0" algn="bl" rotWithShape="0" blurRad="114300" dist="25400" dir="5400000">
              <a:srgbClr val="6D28D9">
                <a:alpha val="7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1051560" y="511149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и темы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051560" y="54223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Тарифы, избранное, переключение светлой и тёмной темы, бургер-меню на мобильных.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77240" y="6272784"/>
            <a:ext cx="5074920" cy="0"/>
          </a:xfrm>
          <a:prstGeom prst="line">
            <a:avLst/>
          </a:prstGeom>
          <a:noFill/>
          <a:ln w="12700">
            <a:solidFill>
              <a:srgbClr val="E9E6F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" y="6336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• Студент гр. П30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GiftFinder — сервис подбора подарков с ИИ-ассистентом</dc:title>
  <dc:subject>PptxGenJS Presentation</dc:subject>
  <dc:creator>Береженцев Артем Станиславович</dc:creator>
  <cp:lastModifiedBy>Береженцев Артем Станиславович</cp:lastModifiedBy>
  <cp:revision>1</cp:revision>
  <dcterms:created xsi:type="dcterms:W3CDTF">2026-07-24T07:11:46Z</dcterms:created>
  <dcterms:modified xsi:type="dcterms:W3CDTF">2026-07-24T07:11:46Z</dcterms:modified>
</cp:coreProperties>
</file>